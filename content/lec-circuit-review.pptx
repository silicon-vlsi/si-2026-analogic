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Play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jyd2KO60OUrbo5GJYRj+czowDO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Play-regular.fnt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Play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0" name="Google Shape;2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30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Relationship Id="rId8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40.png"/><Relationship Id="rId7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png"/><Relationship Id="rId4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Relationship Id="rId4" Type="http://schemas.openxmlformats.org/officeDocument/2006/relationships/image" Target="../media/image21.png"/><Relationship Id="rId11" Type="http://schemas.openxmlformats.org/officeDocument/2006/relationships/image" Target="../media/image33.png"/><Relationship Id="rId10" Type="http://schemas.openxmlformats.org/officeDocument/2006/relationships/image" Target="../media/image32.png"/><Relationship Id="rId9" Type="http://schemas.openxmlformats.org/officeDocument/2006/relationships/image" Target="../media/image35.png"/><Relationship Id="rId5" Type="http://schemas.openxmlformats.org/officeDocument/2006/relationships/image" Target="../media/image34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Relationship Id="rId8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Review: Circuits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May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Active Circuits</a:t>
            </a:r>
            <a:endParaRPr/>
          </a:p>
        </p:txBody>
      </p:sp>
      <p:sp>
        <p:nvSpPr>
          <p:cNvPr id="91" name="Google Shape;91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/>
          <p:nvPr/>
        </p:nvSpPr>
        <p:spPr>
          <a:xfrm>
            <a:off x="6555" y="23073"/>
            <a:ext cx="8822356" cy="589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Verdana"/>
              <a:buChar char="•"/>
            </a:pPr>
            <a:r>
              <a:rPr b="1" i="0" lang="en-US" sz="2400" u="none" cap="none" strike="noStrike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Linear Dependent Sources</a:t>
            </a:r>
            <a:endParaRPr/>
          </a:p>
        </p:txBody>
      </p:sp>
      <p:pic>
        <p:nvPicPr>
          <p:cNvPr id="97" name="Google Shape;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3003" y="810628"/>
            <a:ext cx="2324100" cy="542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 txBox="1"/>
          <p:nvPr/>
        </p:nvSpPr>
        <p:spPr>
          <a:xfrm>
            <a:off x="6555" y="23073"/>
            <a:ext cx="8822356" cy="589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Verdana"/>
              <a:buChar char="•"/>
            </a:pPr>
            <a:r>
              <a:rPr b="1" i="0" lang="en-US" sz="2400" u="none" cap="none" strike="noStrike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Analysis using Dependent Sources</a:t>
            </a:r>
            <a:endParaRPr/>
          </a:p>
        </p:txBody>
      </p:sp>
      <p:grpSp>
        <p:nvGrpSpPr>
          <p:cNvPr id="103" name="Google Shape;103;p7"/>
          <p:cNvGrpSpPr/>
          <p:nvPr/>
        </p:nvGrpSpPr>
        <p:grpSpPr>
          <a:xfrm>
            <a:off x="559970" y="1156784"/>
            <a:ext cx="5536030" cy="3255645"/>
            <a:chOff x="559970" y="1156784"/>
            <a:chExt cx="5536030" cy="3255645"/>
          </a:xfrm>
        </p:grpSpPr>
        <p:pic>
          <p:nvPicPr>
            <p:cNvPr id="104" name="Google Shape;10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9970" y="1156784"/>
              <a:ext cx="5536030" cy="32556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7"/>
            <p:cNvSpPr/>
            <p:nvPr/>
          </p:nvSpPr>
          <p:spPr>
            <a:xfrm>
              <a:off x="2695074" y="1275347"/>
              <a:ext cx="986589" cy="85424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/>
        </p:nvSpPr>
        <p:spPr>
          <a:xfrm>
            <a:off x="6555" y="23073"/>
            <a:ext cx="8822356" cy="589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Verdana"/>
              <a:buChar char="•"/>
            </a:pPr>
            <a:r>
              <a:rPr b="1" i="0" lang="en-US" sz="2400" u="none" cap="none" strike="noStrike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Operational Amplifier Model</a:t>
            </a:r>
            <a:endParaRPr/>
          </a:p>
        </p:txBody>
      </p:sp>
      <p:pic>
        <p:nvPicPr>
          <p:cNvPr id="111" name="Google Shape;1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423" y="1201153"/>
            <a:ext cx="5404577" cy="3864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8834" y="949240"/>
            <a:ext cx="5466015" cy="4116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 txBox="1"/>
          <p:nvPr/>
        </p:nvSpPr>
        <p:spPr>
          <a:xfrm>
            <a:off x="6555" y="23073"/>
            <a:ext cx="8822356" cy="589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Verdana"/>
              <a:buChar char="•"/>
            </a:pPr>
            <a:r>
              <a:rPr b="1" i="0" lang="en-US" sz="2400" u="none" cap="none" strike="noStrike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Operational Amplifier Analysis</a:t>
            </a:r>
            <a:endParaRPr/>
          </a:p>
        </p:txBody>
      </p:sp>
      <p:pic>
        <p:nvPicPr>
          <p:cNvPr id="118" name="Google Shape;11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10" y="1228724"/>
            <a:ext cx="3133475" cy="2073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6199" y="612850"/>
            <a:ext cx="4045424" cy="3186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92244" y="900111"/>
            <a:ext cx="2286000" cy="6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 txBox="1"/>
          <p:nvPr/>
        </p:nvSpPr>
        <p:spPr>
          <a:xfrm>
            <a:off x="6555" y="23073"/>
            <a:ext cx="8822356" cy="589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Verdana"/>
              <a:buChar char="•"/>
            </a:pPr>
            <a:r>
              <a:rPr b="1" i="0" lang="en-US" sz="2400" u="none" cap="none" strike="noStrike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Operational Amplifier Analysis</a:t>
            </a:r>
            <a:endParaRPr/>
          </a:p>
        </p:txBody>
      </p:sp>
      <p:pic>
        <p:nvPicPr>
          <p:cNvPr id="126" name="Google Shape;12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260" y="1307179"/>
            <a:ext cx="3698708" cy="2937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486" y="2056173"/>
            <a:ext cx="5487962" cy="2299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371" y="0"/>
            <a:ext cx="5583466" cy="6775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2837" y="191236"/>
            <a:ext cx="5546585" cy="2316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/>
        </p:nvSpPr>
        <p:spPr>
          <a:xfrm>
            <a:off x="6555" y="23073"/>
            <a:ext cx="8822356" cy="589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Verdana"/>
              <a:buChar char="•"/>
            </a:pPr>
            <a:r>
              <a:rPr b="1" i="0" lang="en-US" sz="2400" u="none" cap="none" strike="noStrike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Capacitance</a:t>
            </a:r>
            <a:endParaRPr/>
          </a:p>
        </p:txBody>
      </p:sp>
      <p:pic>
        <p:nvPicPr>
          <p:cNvPr id="143" name="Google Shape;1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7087" y="647700"/>
            <a:ext cx="5457825" cy="556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/>
        </p:nvSpPr>
        <p:spPr>
          <a:xfrm>
            <a:off x="6555" y="23073"/>
            <a:ext cx="8822356" cy="589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Verdana"/>
              <a:buChar char="•"/>
            </a:pPr>
            <a:r>
              <a:rPr b="1" i="0" lang="en-US" sz="2400" u="none" cap="none" strike="noStrike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First-Order Circuits</a:t>
            </a:r>
            <a:endParaRPr/>
          </a:p>
        </p:txBody>
      </p:sp>
      <p:pic>
        <p:nvPicPr>
          <p:cNvPr id="149" name="Google Shape;14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210" y="894849"/>
            <a:ext cx="5003338" cy="2004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4440" y="894849"/>
            <a:ext cx="5003338" cy="2091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7174" y="3296152"/>
            <a:ext cx="4343400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2777" y="3141996"/>
            <a:ext cx="4248150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/>
        </p:nvSpPr>
        <p:spPr>
          <a:xfrm>
            <a:off x="6554" y="23073"/>
            <a:ext cx="11194845" cy="571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Verdana"/>
              <a:buChar char="•"/>
            </a:pPr>
            <a:r>
              <a:rPr b="1" i="0" lang="en-US" sz="2400" u="none" cap="none" strike="noStrike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Frequency Response (Four Basic Gain Responses)</a:t>
            </a:r>
            <a:endParaRPr/>
          </a:p>
        </p:txBody>
      </p:sp>
      <p:pic>
        <p:nvPicPr>
          <p:cNvPr id="158" name="Google Shape;15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0695" y="612850"/>
            <a:ext cx="7348682" cy="588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/>
        </p:nvSpPr>
        <p:spPr>
          <a:xfrm>
            <a:off x="6554" y="23073"/>
            <a:ext cx="11194845" cy="571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Verdana"/>
              <a:buChar char="•"/>
            </a:pPr>
            <a:r>
              <a:rPr b="1" i="0" lang="en-US" sz="2400" u="none" cap="none" strike="noStrike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First-Order Low-Pass Response</a:t>
            </a:r>
            <a:endParaRPr/>
          </a:p>
        </p:txBody>
      </p:sp>
      <p:pic>
        <p:nvPicPr>
          <p:cNvPr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342" y="23073"/>
            <a:ext cx="5457945" cy="68488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" name="Google Shape;165;p17"/>
          <p:cNvGrpSpPr/>
          <p:nvPr/>
        </p:nvGrpSpPr>
        <p:grpSpPr>
          <a:xfrm>
            <a:off x="186489" y="1394295"/>
            <a:ext cx="4396845" cy="4069409"/>
            <a:chOff x="7369342" y="1096425"/>
            <a:chExt cx="4396845" cy="4069409"/>
          </a:xfrm>
        </p:grpSpPr>
        <p:sp>
          <p:nvSpPr>
            <p:cNvPr id="166" name="Google Shape;166;p17"/>
            <p:cNvSpPr txBox="1"/>
            <p:nvPr/>
          </p:nvSpPr>
          <p:spPr>
            <a:xfrm>
              <a:off x="7369342" y="1096425"/>
              <a:ext cx="1832553" cy="69762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7369342" y="2253664"/>
              <a:ext cx="2214965" cy="756233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168" name="Google Shape;168;p17"/>
            <p:cNvSpPr txBox="1"/>
            <p:nvPr/>
          </p:nvSpPr>
          <p:spPr>
            <a:xfrm>
              <a:off x="7369342" y="3511618"/>
              <a:ext cx="2731196" cy="783163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169" name="Google Shape;169;p17"/>
            <p:cNvSpPr txBox="1"/>
            <p:nvPr/>
          </p:nvSpPr>
          <p:spPr>
            <a:xfrm>
              <a:off x="7369342" y="4796502"/>
              <a:ext cx="4396845" cy="36933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35001" l="-1387" r="0" t="-166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pic>
        <p:nvPicPr>
          <p:cNvPr id="170" name="Google Shape;17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51305" y="754076"/>
            <a:ext cx="2333625" cy="38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/>
        </p:nvSpPr>
        <p:spPr>
          <a:xfrm>
            <a:off x="6554" y="23073"/>
            <a:ext cx="11194845" cy="571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Verdana"/>
              <a:buChar char="•"/>
            </a:pPr>
            <a:r>
              <a:rPr b="1" lang="en-US" sz="2400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First-Order High-Pass Response</a:t>
            </a:r>
            <a:endParaRPr/>
          </a:p>
        </p:txBody>
      </p:sp>
      <p:grpSp>
        <p:nvGrpSpPr>
          <p:cNvPr id="176" name="Google Shape;176;p18"/>
          <p:cNvGrpSpPr/>
          <p:nvPr/>
        </p:nvGrpSpPr>
        <p:grpSpPr>
          <a:xfrm>
            <a:off x="186489" y="1394295"/>
            <a:ext cx="5214889" cy="4069409"/>
            <a:chOff x="7369342" y="1096425"/>
            <a:chExt cx="5214889" cy="4069409"/>
          </a:xfrm>
        </p:grpSpPr>
        <p:sp>
          <p:nvSpPr>
            <p:cNvPr id="177" name="Google Shape;177;p18"/>
            <p:cNvSpPr txBox="1"/>
            <p:nvPr/>
          </p:nvSpPr>
          <p:spPr>
            <a:xfrm>
              <a:off x="7369342" y="1096425"/>
              <a:ext cx="1832553" cy="69762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178" name="Google Shape;178;p18"/>
            <p:cNvSpPr txBox="1"/>
            <p:nvPr/>
          </p:nvSpPr>
          <p:spPr>
            <a:xfrm>
              <a:off x="7369342" y="2253664"/>
              <a:ext cx="2214965" cy="756233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179" name="Google Shape;179;p18"/>
            <p:cNvSpPr txBox="1"/>
            <p:nvPr/>
          </p:nvSpPr>
          <p:spPr>
            <a:xfrm>
              <a:off x="7369342" y="3511618"/>
              <a:ext cx="2731197" cy="783163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180" name="Google Shape;180;p18"/>
            <p:cNvSpPr txBox="1"/>
            <p:nvPr/>
          </p:nvSpPr>
          <p:spPr>
            <a:xfrm>
              <a:off x="7369342" y="4796502"/>
              <a:ext cx="5214889" cy="36933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35001" l="-1053" r="0" t="-166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pic>
        <p:nvPicPr>
          <p:cNvPr id="181" name="Google Shape;18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0515" y="0"/>
            <a:ext cx="580493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278" y="0"/>
            <a:ext cx="2233180" cy="6650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732" y="360948"/>
            <a:ext cx="3404597" cy="3207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511" y="4047623"/>
            <a:ext cx="3767455" cy="2449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/>
        </p:nvSpPr>
        <p:spPr>
          <a:xfrm>
            <a:off x="6554" y="23073"/>
            <a:ext cx="11194845" cy="571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Verdana"/>
              <a:buChar char="•"/>
            </a:pPr>
            <a:r>
              <a:rPr b="1" lang="en-US" sz="2400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First-Order Band-Pass Response</a:t>
            </a:r>
            <a:endParaRPr/>
          </a:p>
        </p:txBody>
      </p:sp>
      <p:pic>
        <p:nvPicPr>
          <p:cNvPr id="198" name="Google Shape;198;p21"/>
          <p:cNvPicPr preferRelativeResize="0"/>
          <p:nvPr/>
        </p:nvPicPr>
        <p:blipFill rotWithShape="1">
          <a:blip r:embed="rId3">
            <a:alphaModFix/>
          </a:blip>
          <a:srcRect b="10193" l="0" r="0" t="7132"/>
          <a:stretch/>
        </p:blipFill>
        <p:spPr>
          <a:xfrm>
            <a:off x="1371996" y="773376"/>
            <a:ext cx="9448007" cy="1903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9088" y="2840596"/>
            <a:ext cx="4220363" cy="1153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899" y="4226034"/>
            <a:ext cx="4080112" cy="1364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48017" y="3274341"/>
            <a:ext cx="28575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58174" y="3088960"/>
            <a:ext cx="30765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36428" y="4349859"/>
            <a:ext cx="29241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38352" y="4208257"/>
            <a:ext cx="302895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60241" y="5590094"/>
            <a:ext cx="2876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58174" y="5439625"/>
            <a:ext cx="2943225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2025-06-04T15:55:48Z</dcterms:created>
  <dc:creator>Saroj Rout</dc:creator>
</cp:coreProperties>
</file>